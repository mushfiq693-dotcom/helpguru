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3200400" cy="36576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C8FF"/>
                </a:solidFill>
              </a:defRPr>
            </a:pPr>
            <a:r>
              <a:t>⚡ HELPGURU PLATFORM • OS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Intelligent Emergency Response Engine</a:t>
            </a:r>
          </a:p>
          <a:p>
            <a:pPr>
              <a:defRPr sz="2000" b="1">
                <a:solidFill>
                  <a:srgbClr val="FFD166"/>
                </a:solidFill>
              </a:defRPr>
            </a:pPr>
            <a:r>
              <a:t>"When Every Second Counts, Every Decision Matters."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national-scale, cloud-native event-driven backend platform engineered for near-optimal, explainable, and conflict-free disaster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731520"/>
            <a:ext cx="3657600" cy="53035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CC8FF"/>
                </a:solidFill>
              </a:defRPr>
            </a:pPr>
            <a:r>
              <a:t>🇧🇩 BANGLADESH EMERGENCY GRID</a:t>
            </a:r>
            <a:br/>
            <a:br/>
            <a:r>
              <a:t>🔴 BARISHAL (CRITICAL)</a:t>
            </a:r>
            <a:br/>
            <a:r>
              <a:t>🔴 SYLHET (FLOOD)</a:t>
            </a:r>
            <a:br/>
            <a:r>
              <a:t>🔴 CHITTAGONG (HIGH)</a:t>
            </a:r>
            <a:br/>
            <a:r>
              <a:t>🟡 DHAKA (COMMAND HUB)</a:t>
            </a:r>
            <a:br/>
            <a:r>
              <a:t>🟡 RAJSHAHI (HAZARD)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103120" cy="7315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CC8FF"/>
                </a:solidFill>
              </a:defRPr>
            </a:pPr>
            <a:r>
              <a:t>&lt; 100ms</a:t>
            </a:r>
            <a:br/>
            <a:r>
              <a:t>Dispatch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5303520"/>
            <a:ext cx="2103120" cy="7315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100%</a:t>
            </a:r>
            <a:br/>
            <a:r>
              <a:t>Conflict-Free 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5303520"/>
            <a:ext cx="2103120" cy="7315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D166"/>
                </a:solidFill>
              </a:defRPr>
            </a:pPr>
            <a:r>
              <a:t>99.99%</a:t>
            </a:r>
            <a:br/>
            <a:r>
              <a:t>High Availability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The National Disaster Challenge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Disasters are not bottlenecked by lack of resources—they fail due to wrong, delayed, and uncoordinated decisions.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90F19"/>
          </a:solidFill>
          <a:ln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4D4F"/>
                </a:solidFill>
              </a:defRPr>
            </a:pPr>
            <a:r>
              <a:t>🚨 Traditional Systems (Legacy)</a:t>
            </a:r>
            <a:br/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Dispatch Logic: Manual &amp; Fragmented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Resource Allocation: Static &amp; Double-Booked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Adaptability: Delayed &amp; Rigid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Decision Basis: Intuition-based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0F1E19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⚡ HelpGuru Platform (Next-Gen AI)</a:t>
            </a:r>
            <a:br/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Dispatch Logic: Automated Event Pipeline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Resource Allocation: Conflict-Free Locks (Redlock)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Adaptability: Near Real-Time Re-routing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• Decision Basis: Explainable Multi-Factor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Overall System Workflow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End-to-end event stream from incident creation to monitoring feedback loop.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2011680" cy="256032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CC8FF"/>
                </a:solidFill>
              </a:defRPr>
            </a:pPr>
            <a:r>
              <a:t>STEP 01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🚨 Incident Ingestion</a:t>
            </a:r>
            <a:br/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GeoJSON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560320"/>
            <a:ext cx="2011680" cy="256032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CC8FF"/>
                </a:solidFill>
              </a:defRPr>
            </a:pPr>
            <a:r>
              <a:t>STEP 02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⚡ Kafka Queue</a:t>
            </a:r>
            <a:br/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Event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560320"/>
            <a:ext cx="2011680" cy="2560320"/>
          </a:xfrm>
          <a:prstGeom prst="roundRect">
            <a:avLst/>
          </a:prstGeom>
          <a:solidFill>
            <a:srgbClr val="0F1C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CC8FF"/>
                </a:solidFill>
              </a:defRPr>
            </a:pPr>
            <a:r>
              <a:t>STEP 03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🧠 Decision Engine</a:t>
            </a:r>
            <a:br/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Multi-Factor Solver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9" y="2560320"/>
            <a:ext cx="2011680" cy="256032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CC8FF"/>
                </a:solidFill>
              </a:defRPr>
            </a:pPr>
            <a:r>
              <a:t>STEP 04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🚑 Atomic Dispatch</a:t>
            </a:r>
            <a:br/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Redlock 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560320"/>
            <a:ext cx="2011680" cy="256032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CC8FF"/>
                </a:solidFill>
              </a:defRPr>
            </a:pPr>
            <a:r>
              <a:t>STEP 05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📊 Telemetry Monitor</a:t>
            </a:r>
            <a:br/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Prometheus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Microservice Architecture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Decoupled, event-driven services communicating via internal secure network mesh.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137160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CC8FF"/>
                </a:solidFill>
              </a:defRPr>
            </a:pPr>
            <a:r>
              <a:t>🌐 API Gateway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Sole public ingress point &amp; JWT OAuth2 authentication.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137160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CC8FF"/>
                </a:solidFill>
              </a:defRPr>
            </a:pPr>
            <a:r>
              <a:t>📡 Intake Service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Validates GeoJSON &amp; Streams to Kafka event 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5120640" cy="1371600"/>
          </a:xfrm>
          <a:prstGeom prst="roundRect">
            <a:avLst/>
          </a:prstGeom>
          <a:solidFill>
            <a:srgbClr val="0F1C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🛰️ Resource Tracker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GPS telemetry, vehicle status &amp; hospital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5120640" cy="1371600"/>
          </a:xfrm>
          <a:prstGeom prst="roundRect">
            <a:avLst/>
          </a:prstGeom>
          <a:solidFill>
            <a:srgbClr val="0F1C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166"/>
                </a:solidFill>
              </a:defRPr>
            </a:pPr>
            <a:r>
              <a:t>🧠 Decision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Multi-factor optimization constraint solver.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solidFill>
            <a:srgbClr val="0F2337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🔐 Security Ingress: API Gateway serves as single ingress; all internal microservices communicate via mTLS internal mesh.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Explainable Multi-Factor Decision Engine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How HelpGuru thinks: Synthesizing dynamic environmental variables into deterministic dispatch choices.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0F1C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D166"/>
                </a:solidFill>
              </a:defRPr>
            </a:pPr>
            <a:r>
              <a:t>🧮 Objective Score Function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🚨 Incident Severity (Scale 1-10)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👥 Affected Population Volume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⏳ Time Sensitivity Window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🗺️ Travel Time (PostGIS Route)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🌧️ Weather &amp; Road Hazard Index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🏥 Real-Time Hospital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040913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CC8FF"/>
                </a:solidFill>
              </a:defRPr>
            </a:pPr>
            <a:r>
              <a:t>SYSTEM LOG: DISPATCH OPTIMIZER</a:t>
            </a:r>
            <a:br/>
          </a:p>
          <a:p>
            <a:pPr>
              <a:defRPr sz="1400">
                <a:solidFill>
                  <a:srgbClr val="22C55E"/>
                </a:solidFill>
              </a:defRPr>
            </a:pPr>
            <a:r>
              <a:t>[20:31:08] New Intake: Barishal ---&gt; CRITICAL</a:t>
            </a:r>
          </a:p>
          <a:p>
            <a:pPr>
              <a:defRPr sz="1400">
                <a:solidFill>
                  <a:srgbClr val="22C55E"/>
                </a:solidFill>
              </a:defRPr>
            </a:pPr>
            <a:r>
              <a:t>[20:31:10] Scanning PostGIS Grid ---&gt; 14 Units</a:t>
            </a:r>
          </a:p>
          <a:p>
            <a:pPr>
              <a:defRPr sz="1400">
                <a:solidFill>
                  <a:srgbClr val="22C55E"/>
                </a:solidFill>
              </a:defRPr>
            </a:pPr>
            <a:r>
              <a:t>[20:31:12] Risk Multiplier ---&gt; Calculated</a:t>
            </a:r>
          </a:p>
          <a:p>
            <a:pPr>
              <a:defRPr sz="1400">
                <a:solidFill>
                  <a:srgbClr val="22C55E"/>
                </a:solidFill>
              </a:defRPr>
            </a:pPr>
            <a:r>
              <a:t>[20:31:14] Redlock Acquisition ---&gt; Locked</a:t>
            </a:r>
          </a:p>
          <a:p>
            <a:pPr>
              <a:defRPr sz="1400">
                <a:solidFill>
                  <a:srgbClr val="22C55E"/>
                </a:solidFill>
              </a:defRPr>
            </a:pPr>
            <a:r>
              <a:t>[20:31:15] Dispatch Command ---&gt;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Dynamic Re-Optimization &amp; Resiliency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Continuous adaptation to changing disaster environments and system instance failures.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20:31:08  [INTAKE]  Incident created in Barishal Region • Ambulance #A-12 Dispatched.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20:31:12  [RE-ROUTE]  Road Blocked Detected: Highway N8 flooded. Recalculating route in &lt;50ms...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20:31:16  [RE-ALLOCATE]  Hospital Capacity Reached: District Hospital full. Rerouting to General Hospital.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20:31:19  [FAILOVER]  Node Crash Recovery: Engine Replica #2 auto-assumes state via Kafka Event Replay.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Scalability, Data &amp; Security Dashboard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Live system operational metrics across all 13 core Architectural Categories.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🟢 Horizontal Scalability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Kubernetes Horizontal Pod Autoscaler (HPA) • Stateless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🟢 Polyglot Data Layer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PostgreSQL (Transactional ACID) + PostGIS (Geospatial R-Tree Indexing)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🟢 Distributed Caching &amp; Locks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Redis Cluster • Sub-millisecond Lookups &amp; Redlock Race-Condition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🟢 Security &amp; Governance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Gateway-Only Ingress • Role-Based Access Control (RBAC) • E2E TLS 1.3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National Emergency Impact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Transforming disaster management through high-throughput backend engineering.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5CC8FF"/>
                </a:solidFill>
              </a:defRPr>
            </a:pPr>
            <a:r>
              <a:t>⏱️</a:t>
            </a:r>
            <a:br/>
            <a:br/>
            <a:r>
              <a:t>&lt; 100ms</a:t>
            </a:r>
            <a:br/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Faster Response</a:t>
            </a:r>
            <a:br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Sub-second automated dispatch reduces critical response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🔒</a:t>
            </a:r>
            <a:br/>
            <a:br/>
            <a:r>
              <a:t>100%</a:t>
            </a:r>
            <a:br/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Zero Conflicts</a:t>
            </a:r>
            <a:br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Distributed locks guarantee zero resource double-booking.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D166"/>
                </a:solidFill>
              </a:defRPr>
            </a:pPr>
            <a:r>
              <a:t>🛡️</a:t>
            </a:r>
            <a:br/>
            <a:br/>
            <a:r>
              <a:t>99.99%</a:t>
            </a:r>
            <a:br/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High Availability</a:t>
            </a:r>
            <a:br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Kafka event replay keeps operations online during regional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0F1C2E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📈</a:t>
            </a:r>
            <a:br/>
            <a:br/>
            <a:r>
              <a:t>MAX</a:t>
            </a:r>
            <a:br/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Resource Use</a:t>
            </a:r>
            <a:br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Dynamic re-allocation ensures no vehicle or facility remains idle.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CC8FF"/>
                </a:solidFill>
              </a:defRPr>
            </a:pPr>
            <a:r>
              <a:t>⚡ HelpGuru</a:t>
            </a:r>
            <a:br/>
          </a:p>
          <a:p>
            <a:pPr algn="ctr">
              <a:defRPr sz="2600" b="1">
                <a:solidFill>
                  <a:srgbClr val="FFD166"/>
                </a:solidFill>
              </a:defRPr>
            </a:pPr>
            <a:r>
              <a:t>"When Every Second Counts, Every Decision Matters."</a:t>
            </a:r>
            <a:br/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A resilient, scalable, and explainable emergency management backbone designed to protect lives nationwide.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5303520"/>
            <a:ext cx="2286000" cy="548640"/>
          </a:xfrm>
          <a:prstGeom prst="roundRect">
            <a:avLst/>
          </a:prstGeom>
          <a:solidFill>
            <a:srgbClr val="0F1C2E"/>
          </a:solidFill>
          <a:ln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CC8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